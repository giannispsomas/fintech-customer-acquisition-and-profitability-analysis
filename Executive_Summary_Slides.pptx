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Before credit loss (EUR)</c:v>
                </c:pt>
              </c:strCache>
            </c:strRef>
          </c:tx>
          <c:spPr>
            <a:solidFill>
              <a:srgbClr val="1F3864"/>
            </a:solidFill>
          </c:spPr>
          <c:invertIfNegative val="0"/>
          <c:cat>
            <c:strRef>
              <c:f>Sheet1!$A$2:$A$6</c:f>
              <c:strCache>
                <c:ptCount val="5"/>
                <c:pt idx="0">
                  <c:v>affiliate</c:v>
                </c:pt>
                <c:pt idx="1">
                  <c:v>paid search</c:v>
                </c:pt>
                <c:pt idx="2">
                  <c:v>paid social</c:v>
                </c:pt>
                <c:pt idx="3">
                  <c:v>organic</c:v>
                </c:pt>
                <c:pt idx="4">
                  <c:v>referral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251.54</c:v>
                </c:pt>
                <c:pt idx="1">
                  <c:v>185.36</c:v>
                </c:pt>
                <c:pt idx="2">
                  <c:v>171.28</c:v>
                </c:pt>
                <c:pt idx="3">
                  <c:v>167.97</c:v>
                </c:pt>
                <c:pt idx="4">
                  <c:v>165.36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 credit loss (EUR)</c:v>
                </c:pt>
              </c:strCache>
            </c:strRef>
          </c:tx>
          <c:spPr>
            <a:solidFill>
              <a:srgbClr val="C55A11"/>
            </a:solidFill>
          </c:spPr>
          <c:invertIfNegative val="0"/>
          <c:cat>
            <c:strRef>
              <c:f>Sheet1!$A$2:$A$6</c:f>
              <c:strCache>
                <c:ptCount val="5"/>
                <c:pt idx="0">
                  <c:v>affiliate</c:v>
                </c:pt>
                <c:pt idx="1">
                  <c:v>paid search</c:v>
                </c:pt>
                <c:pt idx="2">
                  <c:v>paid social</c:v>
                </c:pt>
                <c:pt idx="3">
                  <c:v>organic</c:v>
                </c:pt>
                <c:pt idx="4">
                  <c:v>referral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-490.95</c:v>
                </c:pt>
                <c:pt idx="1">
                  <c:v>-31.96</c:v>
                </c:pt>
                <c:pt idx="2">
                  <c:v>-54.03</c:v>
                </c:pt>
                <c:pt idx="3">
                  <c:v>-28.24</c:v>
                </c:pt>
                <c:pt idx="4">
                  <c:v>54.49</c:v>
                </c:pt>
              </c:numCache>
            </c:numRef>
          </c:val>
        </c:ser>
        <c:dLbls>
          <c:numFmt formatCode="#,##0;-#,##0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9D9D9"/>
              </a:solidFill>
            </a:ln>
          </c:spPr>
        </c:majorGridlines>
        <c:numFmt formatCode="#,##0;-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200">
          <a:solidFill>
            <a:srgbClr val="262626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 default rate</c:v>
                </c:pt>
              </c:strCache>
            </c:strRef>
          </c:tx>
          <c:spPr>
            <a:solidFill>
              <a:srgbClr val="C55A11"/>
            </a:solidFill>
          </c:spPr>
          <c:invertIfNegative val="0"/>
          <c:cat>
            <c:strRef>
              <c:f>Sheet1!$A$2:$A$6</c:f>
              <c:strCache>
                <c:ptCount val="5"/>
                <c:pt idx="0">
                  <c:v>affiliate</c:v>
                </c:pt>
                <c:pt idx="1">
                  <c:v>paid social</c:v>
                </c:pt>
                <c:pt idx="2">
                  <c:v>organic</c:v>
                </c:pt>
                <c:pt idx="3">
                  <c:v>paid search</c:v>
                </c:pt>
                <c:pt idx="4">
                  <c:v>referral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0.241</c:v>
                </c:pt>
                <c:pt idx="1">
                  <c:v>0.125</c:v>
                </c:pt>
                <c:pt idx="2">
                  <c:v>0.113</c:v>
                </c:pt>
                <c:pt idx="3">
                  <c:v>0.102</c:v>
                </c:pt>
                <c:pt idx="4">
                  <c:v>0.065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Predicted from loan features only</c:v>
                </c:pt>
              </c:strCache>
            </c:strRef>
          </c:tx>
          <c:spPr>
            <a:solidFill>
              <a:srgbClr val="1F3864"/>
            </a:solidFill>
          </c:spPr>
          <c:invertIfNegative val="0"/>
          <c:cat>
            <c:strRef>
              <c:f>Sheet1!$A$2:$A$6</c:f>
              <c:strCache>
                <c:ptCount val="5"/>
                <c:pt idx="0">
                  <c:v>affiliate</c:v>
                </c:pt>
                <c:pt idx="1">
                  <c:v>paid social</c:v>
                </c:pt>
                <c:pt idx="2">
                  <c:v>organic</c:v>
                </c:pt>
                <c:pt idx="3">
                  <c:v>paid search</c:v>
                </c:pt>
                <c:pt idx="4">
                  <c:v>referral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0.19</c:v>
                </c:pt>
                <c:pt idx="1">
                  <c:v>0.145</c:v>
                </c:pt>
                <c:pt idx="2">
                  <c:v>0.109</c:v>
                </c:pt>
                <c:pt idx="3">
                  <c:v>0.111</c:v>
                </c:pt>
                <c:pt idx="4">
                  <c:v>0.082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9D9D9"/>
              </a:solidFill>
            </a:ln>
          </c:spPr>
        </c:majorGridlines>
        <c:numFmt formatCode="0.0%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200">
          <a:solidFill>
            <a:srgbClr val="262626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Baseline spend (EUR)</c:v>
                </c:pt>
              </c:strCache>
            </c:strRef>
          </c:tx>
          <c:spPr>
            <a:solidFill>
              <a:srgbClr val="7F7F7F"/>
            </a:solidFill>
          </c:spPr>
          <c:invertIfNegative val="0"/>
          <c:cat>
            <c:strRef>
              <c:f>Sheet1!$A$2:$A$5</c:f>
              <c:strCache>
                <c:ptCount val="4"/>
                <c:pt idx="0">
                  <c:v>paid social</c:v>
                </c:pt>
                <c:pt idx="1">
                  <c:v>paid search</c:v>
                </c:pt>
                <c:pt idx="2">
                  <c:v>affiliate</c:v>
                </c:pt>
                <c:pt idx="3">
                  <c:v>referral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19030</c:v>
                </c:pt>
                <c:pt idx="1">
                  <c:v>5375</c:v>
                </c:pt>
                <c:pt idx="2">
                  <c:v>3116</c:v>
                </c:pt>
                <c:pt idx="3">
                  <c:v>1081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Recommended spend (EUR)</c:v>
                </c:pt>
              </c:strCache>
            </c:strRef>
          </c:tx>
          <c:spPr>
            <a:solidFill>
              <a:srgbClr val="1F3864"/>
            </a:solidFill>
          </c:spPr>
          <c:invertIfNegative val="0"/>
          <c:cat>
            <c:strRef>
              <c:f>Sheet1!$A$2:$A$5</c:f>
              <c:strCache>
                <c:ptCount val="4"/>
                <c:pt idx="0">
                  <c:v>paid social</c:v>
                </c:pt>
                <c:pt idx="1">
                  <c:v>paid search</c:v>
                </c:pt>
                <c:pt idx="2">
                  <c:v>affiliate</c:v>
                </c:pt>
                <c:pt idx="3">
                  <c:v>referral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9515</c:v>
                </c:pt>
                <c:pt idx="1">
                  <c:v>2687</c:v>
                </c:pt>
                <c:pt idx="2">
                  <c:v>1558</c:v>
                </c:pt>
                <c:pt idx="3">
                  <c:v>1298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9D9D9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200">
          <a:solidFill>
            <a:srgbClr val="262626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question: which channels bring customers who are worth what they cost, and where should next quarter's budget go. The company and data are fictional.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headline. Be honest about the referral point: the average is positive but the interval includes zero. Affiliate is clearly the worst after credit losses.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Left chart: 12-month LTV before and after subtracting the credit loss per customer. Payback and CAC are before credit losses.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Funnel, attribution and campaigns in one slide. Position-based attribution gives 40% to the first click, 40% to the last click and 20% to the middle clicks.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A uses grade, segment, principal and term, without the channel. Adding the channel does not improve the AUC. Affiliate's gap to the prediction is 5.1 points, with a 95% interval of 0.7 to 9.8.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Excel Solver, GRG Nonlinear, response curves per channel. Each channel is limited to 50% to 150% of baseline (referral 120%).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the next step: test the recommendation with a holdout before moving the whole budget.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822960" y="1920240"/>
            <a:ext cx="105156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Which acquisition channels bring profitable customers?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822960" y="365760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0" i="0">
                <a:solidFill>
                  <a:srgbClr val="D9E2F3"/>
                </a:solidFill>
                <a:latin typeface="Calibri"/>
              </a:rPr>
              <a:t>How next quarter's marketing budget should be reallocated</a:t>
            </a:r>
          </a:p>
        </p:txBody>
      </p:sp>
      <p:sp>
        <p:nvSpPr>
          <p:cNvPr id="4" name="Author"/>
          <p:cNvSpPr txBox="1"/>
          <p:nvPr/>
        </p:nvSpPr>
        <p:spPr>
          <a:xfrm>
            <a:off x="822960" y="512064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Giannis Psomas</a:t>
            </a:r>
          </a:p>
          <a:p>
            <a:pPr algn="l">
              <a:spcBef>
                <a:spcPts val="800"/>
              </a:spcBef>
            </a:pPr>
            <a:r>
              <a:rPr sz="1600" b="0" i="0">
                <a:solidFill>
                  <a:srgbClr val="FFFFFF"/>
                </a:solidFill>
                <a:latin typeface="Calibri"/>
              </a:rPr>
              <a:t>SQL Server · Excel (Solver) · Python · Power BI. A fictional fintech company, 10,000 customers, October 2024 to September 2026.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40080" y="41148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F3864"/>
                </a:solidFill>
                <a:latin typeface="Calibri"/>
              </a:rPr>
              <a:t>After credit losses, only referral has a positive value per customer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737360"/>
            <a:ext cx="3474720" cy="17373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"/>
          <p:cNvSpPr txBox="1"/>
          <p:nvPr/>
        </p:nvSpPr>
        <p:spPr>
          <a:xfrm>
            <a:off x="914400" y="1965960"/>
            <a:ext cx="292607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1F3864"/>
                </a:solidFill>
                <a:latin typeface="Calibri"/>
              </a:rPr>
              <a:t>+54 EUR</a:t>
            </a:r>
          </a:p>
        </p:txBody>
      </p:sp>
      <p:sp>
        <p:nvSpPr>
          <p:cNvPr id="5" name="Stat label"/>
          <p:cNvSpPr txBox="1"/>
          <p:nvPr/>
        </p:nvSpPr>
        <p:spPr>
          <a:xfrm>
            <a:off x="914400" y="2788920"/>
            <a:ext cx="2926079" cy="594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262626"/>
                </a:solidFill>
                <a:latin typeface="Calibri"/>
              </a:rPr>
              <a:t>Referral: value per customer after credit losses (12 months)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61688" y="1737360"/>
            <a:ext cx="3474720" cy="17373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tat"/>
          <p:cNvSpPr txBox="1"/>
          <p:nvPr/>
        </p:nvSpPr>
        <p:spPr>
          <a:xfrm>
            <a:off x="4636007" y="1965960"/>
            <a:ext cx="292607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C55A11"/>
                </a:solidFill>
                <a:latin typeface="Calibri"/>
              </a:rPr>
              <a:t>-491 EUR</a:t>
            </a:r>
          </a:p>
        </p:txBody>
      </p:sp>
      <p:sp>
        <p:nvSpPr>
          <p:cNvPr id="8" name="Stat label"/>
          <p:cNvSpPr txBox="1"/>
          <p:nvPr/>
        </p:nvSpPr>
        <p:spPr>
          <a:xfrm>
            <a:off x="4636007" y="2788920"/>
            <a:ext cx="2926079" cy="594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262626"/>
                </a:solidFill>
                <a:latin typeface="Calibri"/>
              </a:rPr>
              <a:t>Affiliate: the best value before credit losses (252 EUR), the worst after them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83296" y="1737360"/>
            <a:ext cx="3474720" cy="17373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"/>
          <p:cNvSpPr txBox="1"/>
          <p:nvPr/>
        </p:nvSpPr>
        <p:spPr>
          <a:xfrm>
            <a:off x="8357616" y="1965960"/>
            <a:ext cx="292607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1F3864"/>
                </a:solidFill>
                <a:latin typeface="Calibri"/>
              </a:rPr>
              <a:t>+40,720 EUR</a:t>
            </a:r>
          </a:p>
        </p:txBody>
      </p:sp>
      <p:sp>
        <p:nvSpPr>
          <p:cNvPr id="11" name="Stat label"/>
          <p:cNvSpPr txBox="1"/>
          <p:nvPr/>
        </p:nvSpPr>
        <p:spPr>
          <a:xfrm>
            <a:off x="8357616" y="2788920"/>
            <a:ext cx="2926079" cy="594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262626"/>
                </a:solidFill>
                <a:latin typeface="Calibri"/>
              </a:rPr>
              <a:t>Modelled improvement of the quarter from reallocating the budget</a:t>
            </a:r>
          </a:p>
        </p:txBody>
      </p:sp>
      <p:sp>
        <p:nvSpPr>
          <p:cNvPr id="12" name="Bottom line"/>
          <p:cNvSpPr txBox="1"/>
          <p:nvPr/>
        </p:nvSpPr>
        <p:spPr>
          <a:xfrm>
            <a:off x="640080" y="3931920"/>
            <a:ext cx="108813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262626"/>
                </a:solidFill>
                <a:latin typeface="Calibri"/>
              </a:rPr>
              <a:t>Every paid channel earns back its acquisition cost within six months.</a:t>
            </a:r>
          </a:p>
          <a:p>
            <a:pPr algn="l">
              <a:spcBef>
                <a:spcPts val="800"/>
              </a:spcBef>
            </a:pPr>
            <a:r>
              <a:rPr sz="1800" b="0" i="0">
                <a:solidFill>
                  <a:srgbClr val="262626"/>
                </a:solidFill>
                <a:latin typeface="Calibri"/>
              </a:rPr>
              <a:t>24.1% of affiliate loans default, against 6.5% to 12.5% in the other channels.</a:t>
            </a:r>
          </a:p>
          <a:p>
            <a:pPr algn="l">
              <a:spcBef>
                <a:spcPts val="800"/>
              </a:spcBef>
            </a:pPr>
            <a:r>
              <a:rPr sz="1800" b="0" i="0">
                <a:solidFill>
                  <a:srgbClr val="262626"/>
                </a:solidFill>
                <a:latin typeface="Calibri"/>
              </a:rPr>
              <a:t>Referral's positive value is not statistically proven: its 95% interval runs from -44 to +131 EUR. Affiliate being the worst is clear.</a:t>
            </a:r>
          </a:p>
          <a:p>
            <a:pPr algn="l">
              <a:spcBef>
                <a:spcPts val="800"/>
              </a:spcBef>
            </a:pPr>
            <a:r>
              <a:rPr sz="1800" b="0" i="0">
                <a:solidFill>
                  <a:srgbClr val="262626"/>
                </a:solidFill>
                <a:latin typeface="Calibri"/>
              </a:rPr>
              <a:t>The quarter stays negative after reallocating, because most of the loss comes from loan losses that marketing spend does not change.</a:t>
            </a:r>
          </a:p>
        </p:txBody>
      </p:sp>
      <p:sp>
        <p:nvSpPr>
          <p:cNvPr id="13" name="Footer"/>
          <p:cNvSpPr txBox="1"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7F7F7F"/>
                </a:solidFill>
                <a:latin typeface="Calibri"/>
              </a:rPr>
              <a:t>FinTech Customer Acquisition and Profitability Analysis</a:t>
            </a:r>
          </a:p>
        </p:txBody>
      </p:sp>
      <p:sp>
        <p:nvSpPr>
          <p:cNvPr id="14" name="Slide number"/>
          <p:cNvSpPr txBox="1"/>
          <p:nvPr/>
        </p:nvSpPr>
        <p:spPr>
          <a:xfrm>
            <a:off x="10881360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F7F7F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40080" y="41148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F3864"/>
                </a:solidFill>
                <a:latin typeface="Calibri"/>
              </a:rPr>
              <a:t>Affiliate has the best 12-month value before credit losses and the worst after them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40080" y="1600200"/>
          <a:ext cx="740664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8412480" y="1691640"/>
            <a:ext cx="3154680" cy="429768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Notes"/>
          <p:cNvSpPr txBox="1"/>
          <p:nvPr/>
        </p:nvSpPr>
        <p:spPr>
          <a:xfrm>
            <a:off x="8686800" y="1920240"/>
            <a:ext cx="265176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  <a:latin typeface="Calibri"/>
              </a:rPr>
              <a:t>Payback is fast: referral in 2 months, affiliate 3, paid search 4, paid social 6.</a:t>
            </a:r>
          </a:p>
          <a:p>
            <a:pPr algn="l">
              <a:spcBef>
                <a:spcPts val="800"/>
              </a:spcBef>
            </a:pPr>
            <a:r>
              <a:rPr sz="1600" b="0" i="0">
                <a:solidFill>
                  <a:srgbClr val="262626"/>
                </a:solidFill>
                <a:latin typeface="Calibri"/>
              </a:rPr>
              <a:t>CAC ranges from 12.47 EUR (referral) to 65.59 EUR (paid social).</a:t>
            </a:r>
          </a:p>
          <a:p>
            <a:pPr algn="l">
              <a:spcBef>
                <a:spcPts val="800"/>
              </a:spcBef>
            </a:pPr>
            <a:r>
              <a:rPr sz="1600" b="0" i="0">
                <a:solidFill>
                  <a:srgbClr val="262626"/>
                </a:solidFill>
                <a:latin typeface="Calibri"/>
              </a:rPr>
              <a:t>Credit loss per customer: affiliate 742 EUR, referral 111 EUR.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7F7F7F"/>
                </a:solidFill>
                <a:latin typeface="Calibri"/>
              </a:rPr>
              <a:t>FinTech Customer Acquisition and Profitability Analysis</a:t>
            </a:r>
          </a:p>
        </p:txBody>
      </p:sp>
      <p:sp>
        <p:nvSpPr>
          <p:cNvPr id="7" name="Slide number"/>
          <p:cNvSpPr txBox="1"/>
          <p:nvPr/>
        </p:nvSpPr>
        <p:spPr>
          <a:xfrm>
            <a:off x="10881360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F7F7F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40080" y="41148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F3864"/>
                </a:solidFill>
                <a:latin typeface="Calibri"/>
              </a:rPr>
              <a:t>Paid social loses people after KYC, is over-credited, and one campaign wastes money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737360"/>
            <a:ext cx="3474720" cy="228600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"/>
          <p:cNvSpPr txBox="1"/>
          <p:nvPr/>
        </p:nvSpPr>
        <p:spPr>
          <a:xfrm>
            <a:off x="914400" y="1965960"/>
            <a:ext cx="292607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C55A11"/>
                </a:solidFill>
                <a:latin typeface="Calibri"/>
              </a:rPr>
              <a:t>52%</a:t>
            </a:r>
          </a:p>
        </p:txBody>
      </p:sp>
      <p:sp>
        <p:nvSpPr>
          <p:cNvPr id="5" name="Stat label"/>
          <p:cNvSpPr txBox="1"/>
          <p:nvPr/>
        </p:nvSpPr>
        <p:spPr>
          <a:xfrm>
            <a:off x="914400" y="2788920"/>
            <a:ext cx="2926079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262626"/>
                </a:solidFill>
                <a:latin typeface="Calibri"/>
              </a:rPr>
              <a:t>of verified paid social customers make a first deposit, against 72% to 89% in the other channels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61688" y="1737360"/>
            <a:ext cx="3474720" cy="228600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tat"/>
          <p:cNvSpPr txBox="1"/>
          <p:nvPr/>
        </p:nvSpPr>
        <p:spPr>
          <a:xfrm>
            <a:off x="4636007" y="1965960"/>
            <a:ext cx="292607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1F3864"/>
                </a:solidFill>
                <a:latin typeface="Calibri"/>
              </a:rPr>
              <a:t>-20% / +22%</a:t>
            </a:r>
          </a:p>
        </p:txBody>
      </p:sp>
      <p:sp>
        <p:nvSpPr>
          <p:cNvPr id="8" name="Stat label"/>
          <p:cNvSpPr txBox="1"/>
          <p:nvPr/>
        </p:nvSpPr>
        <p:spPr>
          <a:xfrm>
            <a:off x="4636007" y="2788920"/>
            <a:ext cx="2926079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262626"/>
                </a:solidFill>
                <a:latin typeface="Calibri"/>
              </a:rPr>
              <a:t>customers credited to paid social and paid search by position-based attribution, against the recorded channel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83296" y="1737360"/>
            <a:ext cx="3474720" cy="228600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"/>
          <p:cNvSpPr txBox="1"/>
          <p:nvPr/>
        </p:nvSpPr>
        <p:spPr>
          <a:xfrm>
            <a:off x="8357616" y="1965960"/>
            <a:ext cx="292607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C55A11"/>
                </a:solidFill>
                <a:latin typeface="Calibri"/>
              </a:rPr>
              <a:t>365 EUR</a:t>
            </a:r>
          </a:p>
        </p:txBody>
      </p:sp>
      <p:sp>
        <p:nvSpPr>
          <p:cNvPr id="11" name="Stat label"/>
          <p:cNvSpPr txBox="1"/>
          <p:nvPr/>
        </p:nvSpPr>
        <p:spPr>
          <a:xfrm>
            <a:off x="8357616" y="2788920"/>
            <a:ext cx="2926079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262626"/>
                </a:solidFill>
                <a:latin typeface="Calibri"/>
              </a:rPr>
              <a:t>cost per customer of SO_Summer_Reach_2026, against a channel median of 62 (24.5% of paid social spend)</a:t>
            </a:r>
          </a:p>
        </p:txBody>
      </p:sp>
      <p:sp>
        <p:nvSpPr>
          <p:cNvPr id="12" name="Details"/>
          <p:cNvSpPr txBox="1"/>
          <p:nvPr/>
        </p:nvSpPr>
        <p:spPr>
          <a:xfrm>
            <a:off x="640080" y="4434840"/>
            <a:ext cx="108813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262626"/>
                </a:solidFill>
                <a:latin typeface="Calibri"/>
              </a:rPr>
              <a:t>Paid social CAC rises from 65.59 to 81.87 EUR on position-based credit; paid search falls from 32.94 to 26.90 EUR.</a:t>
            </a:r>
          </a:p>
          <a:p>
            <a:pPr algn="l">
              <a:spcBef>
                <a:spcPts val="800"/>
              </a:spcBef>
            </a:pPr>
            <a:r>
              <a:rPr sz="1800" b="0" i="0">
                <a:solidFill>
                  <a:srgbClr val="262626"/>
                </a:solidFill>
                <a:latin typeface="Calibri"/>
              </a:rPr>
              <a:t>Students (63%) and freelancers (67%) fund less often after verifying than salaried customers (80%).</a:t>
            </a:r>
          </a:p>
          <a:p>
            <a:pPr algn="l">
              <a:spcBef>
                <a:spcPts val="800"/>
              </a:spcBef>
            </a:pPr>
            <a:r>
              <a:rPr sz="1800" b="0" i="0">
                <a:solidFill>
                  <a:srgbClr val="262626"/>
                </a:solidFill>
                <a:latin typeface="Calibri"/>
              </a:rPr>
              <a:t>Paid social cost per customer reached 158 EUR in 2026-Q3, from 47 to 91 EUR in earlier quarters.</a:t>
            </a:r>
          </a:p>
        </p:txBody>
      </p:sp>
      <p:sp>
        <p:nvSpPr>
          <p:cNvPr id="13" name="Footer"/>
          <p:cNvSpPr txBox="1"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7F7F7F"/>
                </a:solidFill>
                <a:latin typeface="Calibri"/>
              </a:rPr>
              <a:t>FinTech Customer Acquisition and Profitability Analysis</a:t>
            </a:r>
          </a:p>
        </p:txBody>
      </p:sp>
      <p:sp>
        <p:nvSpPr>
          <p:cNvPr id="14" name="Slide number"/>
          <p:cNvSpPr txBox="1"/>
          <p:nvPr/>
        </p:nvSpPr>
        <p:spPr>
          <a:xfrm>
            <a:off x="10881360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F7F7F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40080" y="41148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F3864"/>
                </a:solidFill>
                <a:latin typeface="Calibri"/>
              </a:rPr>
              <a:t>Most of affiliate's default problem is the loans it brings, not the channel itself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40080" y="1600200"/>
          <a:ext cx="694944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7955279" y="1691640"/>
            <a:ext cx="3611880" cy="429768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Notes"/>
          <p:cNvSpPr txBox="1"/>
          <p:nvPr/>
        </p:nvSpPr>
        <p:spPr>
          <a:xfrm>
            <a:off x="8229600" y="1920240"/>
            <a:ext cx="310896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  <a:latin typeface="Calibri"/>
              </a:rPr>
              <a:t>A logistic regression on 1,587 seasoned loans separates risk well enough to be useful: ROC-AUC 0.73.</a:t>
            </a:r>
          </a:p>
          <a:p>
            <a:pPr algn="l">
              <a:spcBef>
                <a:spcPts val="800"/>
              </a:spcBef>
            </a:pPr>
            <a:r>
              <a:rPr sz="1600" b="0" i="0">
                <a:solidFill>
                  <a:srgbClr val="262626"/>
                </a:solidFill>
                <a:latin typeface="Calibri"/>
              </a:rPr>
              <a:t>61% of affiliate loans are in the highest-risk fifth, against 2% for referral.</a:t>
            </a:r>
          </a:p>
          <a:p>
            <a:pPr algn="l">
              <a:spcBef>
                <a:spcPts val="800"/>
              </a:spcBef>
            </a:pPr>
            <a:r>
              <a:rPr sz="1600" b="0" i="0">
                <a:solidFill>
                  <a:srgbClr val="262626"/>
                </a:solidFill>
                <a:latin typeface="Calibri"/>
              </a:rPr>
              <a:t>Given the loan mix, affiliate still defaults 5 points more than predicted.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7F7F7F"/>
                </a:solidFill>
                <a:latin typeface="Calibri"/>
              </a:rPr>
              <a:t>FinTech Customer Acquisition and Profitability Analysis</a:t>
            </a:r>
          </a:p>
        </p:txBody>
      </p:sp>
      <p:sp>
        <p:nvSpPr>
          <p:cNvPr id="7" name="Slide number"/>
          <p:cNvSpPr txBox="1"/>
          <p:nvPr/>
        </p:nvSpPr>
        <p:spPr>
          <a:xfrm>
            <a:off x="10881360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F7F7F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40080" y="41148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F3864"/>
                </a:solidFill>
                <a:latin typeface="Calibri"/>
              </a:rPr>
              <a:t>The best allocation halves three channels and raises referral by 20%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40080" y="1600200"/>
          <a:ext cx="694944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7955279" y="1691640"/>
            <a:ext cx="3611880" cy="429768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Notes"/>
          <p:cNvSpPr txBox="1"/>
          <p:nvPr/>
        </p:nvSpPr>
        <p:spPr>
          <a:xfrm>
            <a:off x="8229600" y="1920240"/>
            <a:ext cx="310896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262626"/>
                </a:solidFill>
                <a:latin typeface="Calibri"/>
              </a:rPr>
              <a:t>Total spend falls from 28,603 to 15,058 EUR. Net profit improves from -97,564 to -56,843 EUR.</a:t>
            </a:r>
          </a:p>
          <a:p>
            <a:pPr algn="l">
              <a:spcBef>
                <a:spcPts val="800"/>
              </a:spcBef>
            </a:pPr>
            <a:r>
              <a:rPr sz="1500" b="0" i="0">
                <a:solidFill>
                  <a:srgbClr val="262626"/>
                </a:solidFill>
                <a:latin typeface="Calibri"/>
              </a:rPr>
              <a:t>The improvement holds in all 8 scenarios (21,643 to 56,722 EUR) and in 4 more where channel values move within their intervals.</a:t>
            </a:r>
          </a:p>
          <a:p>
            <a:pPr algn="l">
              <a:spcBef>
                <a:spcPts val="800"/>
              </a:spcBef>
            </a:pPr>
            <a:r>
              <a:rPr sz="1500" b="0" i="0">
                <a:solidFill>
                  <a:srgbClr val="262626"/>
                </a:solidFill>
                <a:latin typeface="Calibri"/>
              </a:rPr>
              <a:t>The cut in affiliate and paid social holds in every case; the referral increase and any change in paid search depend on the assumed values.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7F7F7F"/>
                </a:solidFill>
                <a:latin typeface="Calibri"/>
              </a:rPr>
              <a:t>FinTech Customer Acquisition and Profitability Analysis</a:t>
            </a:r>
          </a:p>
        </p:txBody>
      </p:sp>
      <p:sp>
        <p:nvSpPr>
          <p:cNvPr id="7" name="Slide number"/>
          <p:cNvSpPr txBox="1"/>
          <p:nvPr/>
        </p:nvSpPr>
        <p:spPr>
          <a:xfrm>
            <a:off x="10881360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F7F7F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40080" y="41148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F3864"/>
                </a:solidFill>
                <a:latin typeface="Calibri"/>
              </a:rPr>
              <a:t>What to do next, and how much to trust it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691640"/>
            <a:ext cx="5577840" cy="443484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ading"/>
          <p:cNvSpPr txBox="1"/>
          <p:nvPr/>
        </p:nvSpPr>
        <p:spPr>
          <a:xfrm>
            <a:off x="914400" y="1874519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F3864"/>
                </a:solidFill>
                <a:latin typeface="Calibri"/>
              </a:rPr>
              <a:t>Recommendations, in order of confidence</a:t>
            </a:r>
          </a:p>
        </p:txBody>
      </p:sp>
      <p:sp>
        <p:nvSpPr>
          <p:cNvPr id="5" name="Recommendations"/>
          <p:cNvSpPr txBox="1"/>
          <p:nvPr/>
        </p:nvSpPr>
        <p:spPr>
          <a:xfrm>
            <a:off x="914400" y="2377440"/>
            <a:ext cx="50292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262626"/>
                </a:solidFill>
                <a:latin typeface="Calibri"/>
              </a:rPr>
              <a:t>1. Stop Summer Reach style spend in paid social.</a:t>
            </a:r>
          </a:p>
          <a:p>
            <a:pPr algn="l">
              <a:spcBef>
                <a:spcPts val="800"/>
              </a:spcBef>
            </a:pPr>
            <a:r>
              <a:rPr sz="1900" b="0" i="0">
                <a:solidFill>
                  <a:srgbClr val="262626"/>
                </a:solidFill>
                <a:latin typeface="Calibri"/>
              </a:rPr>
              <a:t>2. Tighten credit rules for the riskiest grades and for students, before cutting affiliate spend.</a:t>
            </a:r>
          </a:p>
          <a:p>
            <a:pPr algn="l">
              <a:spcBef>
                <a:spcPts val="800"/>
              </a:spcBef>
            </a:pPr>
            <a:r>
              <a:rPr sz="1900" b="0" i="0">
                <a:solidFill>
                  <a:srgbClr val="262626"/>
                </a:solidFill>
                <a:latin typeface="Calibri"/>
              </a:rPr>
              <a:t>3. Move money to referral in steps.</a:t>
            </a:r>
          </a:p>
          <a:p>
            <a:pPr algn="l">
              <a:spcBef>
                <a:spcPts val="800"/>
              </a:spcBef>
            </a:pPr>
            <a:r>
              <a:rPr sz="1900" b="0" i="0">
                <a:solidFill>
                  <a:srgbClr val="262626"/>
                </a:solidFill>
                <a:latin typeface="Calibri"/>
              </a:rPr>
              <a:t>4. Report channels with position-based credit.</a:t>
            </a:r>
          </a:p>
          <a:p>
            <a:pPr algn="l">
              <a:spcBef>
                <a:spcPts val="800"/>
              </a:spcBef>
            </a:pPr>
            <a:r>
              <a:rPr sz="1900" b="0" i="0">
                <a:solidFill>
                  <a:srgbClr val="262626"/>
                </a:solidFill>
                <a:latin typeface="Calibri"/>
              </a:rPr>
              <a:t>5. Find out why paid social customers verify but do not fund.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691640"/>
            <a:ext cx="5074920" cy="443484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eading"/>
          <p:cNvSpPr txBox="1"/>
          <p:nvPr/>
        </p:nvSpPr>
        <p:spPr>
          <a:xfrm>
            <a:off x="6766560" y="1874519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C55A11"/>
                </a:solidFill>
                <a:latin typeface="Calibri"/>
              </a:rPr>
              <a:t>How much to trust this</a:t>
            </a:r>
          </a:p>
        </p:txBody>
      </p:sp>
      <p:sp>
        <p:nvSpPr>
          <p:cNvPr id="8" name="Trust"/>
          <p:cNvSpPr txBox="1"/>
          <p:nvPr/>
        </p:nvSpPr>
        <p:spPr>
          <a:xfrm>
            <a:off x="6766560" y="2377440"/>
            <a:ext cx="45720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262626"/>
                </a:solidFill>
                <a:latin typeface="Calibri"/>
              </a:rPr>
              <a:t>The data is synthetic; the method carries over, the numbers do not.</a:t>
            </a:r>
          </a:p>
          <a:p>
            <a:pPr algn="l">
              <a:spcBef>
                <a:spcPts val="800"/>
              </a:spcBef>
            </a:pPr>
            <a:r>
              <a:rPr sz="1900" b="0" i="0">
                <a:solidFill>
                  <a:srgbClr val="262626"/>
                </a:solidFill>
                <a:latin typeface="Calibri"/>
              </a:rPr>
              <a:t>Referral's advantage is not proven. Affiliate's weakness and paid social's high CAC are clear.</a:t>
            </a:r>
          </a:p>
          <a:p>
            <a:pPr algn="l">
              <a:spcBef>
                <a:spcPts val="800"/>
              </a:spcBef>
            </a:pPr>
            <a:r>
              <a:rPr sz="1900" b="0" i="0">
                <a:solidFill>
                  <a:srgbClr val="262626"/>
                </a:solidFill>
                <a:latin typeface="Calibri"/>
              </a:rPr>
              <a:t>Credit risk is the weakest part: default behaviour is an assumption.</a:t>
            </a:r>
          </a:p>
          <a:p>
            <a:pPr algn="l">
              <a:spcBef>
                <a:spcPts val="800"/>
              </a:spcBef>
            </a:pPr>
            <a:r>
              <a:rPr sz="1900" b="0" i="0">
                <a:solidFill>
                  <a:srgbClr val="262626"/>
                </a:solidFill>
                <a:latin typeface="Calibri"/>
              </a:rPr>
              <a:t>These are hypotheses to test, for example with a holdout, not tested results.</a:t>
            </a:r>
          </a:p>
        </p:txBody>
      </p:sp>
      <p:sp>
        <p:nvSpPr>
          <p:cNvPr id="9" name="Footer"/>
          <p:cNvSpPr txBox="1"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7F7F7F"/>
                </a:solidFill>
                <a:latin typeface="Calibri"/>
              </a:rPr>
              <a:t>FinTech Customer Acquisition and Profitability Analysis</a:t>
            </a:r>
          </a:p>
        </p:txBody>
      </p:sp>
      <p:sp>
        <p:nvSpPr>
          <p:cNvPr id="10" name="Slide number"/>
          <p:cNvSpPr txBox="1"/>
          <p:nvPr/>
        </p:nvSpPr>
        <p:spPr>
          <a:xfrm>
            <a:off x="10881360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F7F7F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